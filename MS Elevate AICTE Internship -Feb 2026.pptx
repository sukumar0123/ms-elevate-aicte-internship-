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80" r:id="rId4"/>
    <p:sldId id="572" r:id="rId5"/>
    <p:sldId id="573" r:id="rId6"/>
    <p:sldId id="574" r:id="rId7"/>
    <p:sldId id="575" r:id="rId8"/>
    <p:sldId id="576" r:id="rId9"/>
    <p:sldId id="577" r:id="rId10"/>
    <p:sldId id="579" r:id="rId11"/>
    <p:sldId id="581" r:id="rId12"/>
    <p:sldId id="582"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13C875-3CF0-4B6C-BAA1-3179F7F3F350}">
          <p14:sldIdLst>
            <p14:sldId id="256"/>
            <p14:sldId id="580"/>
            <p14:sldId id="572"/>
            <p14:sldId id="573"/>
            <p14:sldId id="574"/>
            <p14:sldId id="575"/>
            <p14:sldId id="576"/>
          </p14:sldIdLst>
        </p14:section>
        <p14:section name="Untitled Section" id="{2C85C0D3-6D32-4F31-8A6C-A564E58492CF}">
          <p14:sldIdLst>
            <p14:sldId id="577"/>
            <p14:sldId id="579"/>
            <p14:sldId id="581"/>
            <p14:sldId id="582"/>
            <p14:sldId id="578"/>
            <p14:sldId id="536"/>
          </p14:sldIdLst>
        </p14:section>
      </p14:sectionLst>
    </p:ex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64" d="100"/>
          <a:sy n="64" d="100"/>
        </p:scale>
        <p:origin x="44" y="21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76540" y="963029"/>
            <a:ext cx="4746772" cy="2506766"/>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Smart Student Performance Insights Dashboard</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48515"/>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b="1" dirty="0"/>
              <a:t>Nellore Sukumar</a:t>
            </a:r>
            <a:endParaRPr lang="en-US" sz="1600" b="1" cap="all" dirty="0"/>
          </a:p>
          <a:p>
            <a:pPr algn="l">
              <a:spcAft>
                <a:spcPts val="600"/>
              </a:spcAft>
            </a:pPr>
            <a:r>
              <a:rPr lang="en-US" sz="1600" b="1" cap="all" dirty="0"/>
              <a:t>College Name: </a:t>
            </a:r>
            <a:r>
              <a:rPr lang="en-US" sz="1600" b="1" dirty="0"/>
              <a:t>Vikrama </a:t>
            </a:r>
            <a:r>
              <a:rPr lang="en-US" sz="1600" b="1" dirty="0" err="1"/>
              <a:t>Simhapuri</a:t>
            </a:r>
            <a:r>
              <a:rPr lang="en-US" sz="1600" b="1" dirty="0"/>
              <a:t> University</a:t>
            </a:r>
            <a:endParaRPr lang="en-US" sz="1600" b="1" cap="all" dirty="0"/>
          </a:p>
          <a:p>
            <a:pPr algn="l">
              <a:spcAft>
                <a:spcPts val="600"/>
              </a:spcAft>
            </a:pPr>
            <a:r>
              <a:rPr lang="en-US" sz="1600" b="1" cap="all" dirty="0"/>
              <a:t>Department: </a:t>
            </a:r>
            <a:r>
              <a:rPr lang="en-US" sz="1600" b="1" dirty="0"/>
              <a:t>Computer Science</a:t>
            </a:r>
            <a:endParaRPr lang="en-US" sz="1600" b="1" cap="all" dirty="0"/>
          </a:p>
          <a:p>
            <a:pPr algn="l">
              <a:spcAft>
                <a:spcPts val="600"/>
              </a:spcAft>
            </a:pPr>
            <a:r>
              <a:rPr lang="en-US" sz="1600" b="1" cap="all" dirty="0"/>
              <a:t>Email ID:</a:t>
            </a:r>
            <a:r>
              <a:rPr lang="en-US" sz="1600" b="1" dirty="0"/>
              <a:t>nelloresukumar2004@gmail.com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descr="The image features a person with short, dark hair and a blue shirt, standing against a plain blue background.&#10;&#10;AI-generated content may be incorrect.">
            <a:extLst>
              <a:ext uri="{FF2B5EF4-FFF2-40B4-BE49-F238E27FC236}">
                <a16:creationId xmlns:a16="http://schemas.microsoft.com/office/drawing/2014/main" id="{789B868E-5604-2B3E-BB62-EDF6DE30B7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6598" y="157844"/>
            <a:ext cx="3384513" cy="460300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6B9ABB-E916-4271-7975-77A62C7A8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96855-A84B-7FD7-096A-923FA1D90370}"/>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dirty="0"/>
              <a:t>Introduction :</a:t>
            </a:r>
          </a:p>
        </p:txBody>
      </p:sp>
      <p:sp>
        <p:nvSpPr>
          <p:cNvPr id="3" name="Content Placeholder 2">
            <a:extLst>
              <a:ext uri="{FF2B5EF4-FFF2-40B4-BE49-F238E27FC236}">
                <a16:creationId xmlns:a16="http://schemas.microsoft.com/office/drawing/2014/main" id="{BCCBFDD7-A4BB-562B-27BA-34226E740F13}"/>
              </a:ext>
            </a:extLst>
          </p:cNvPr>
          <p:cNvSpPr>
            <a:spLocks noGrp="1"/>
          </p:cNvSpPr>
          <p:nvPr>
            <p:ph idx="1"/>
          </p:nvPr>
        </p:nvSpPr>
        <p:spPr>
          <a:xfrm>
            <a:off x="433387" y="1822228"/>
            <a:ext cx="10515600" cy="4251960"/>
          </a:xfrm>
        </p:spPr>
        <p:txBody>
          <a:bodyPr vert="horz" lIns="91440" tIns="45720" rIns="91440" bIns="45720" rtlCol="0">
            <a:normAutofit/>
          </a:bodyPr>
          <a:lstStyle/>
          <a:p>
            <a:r>
              <a:rPr lang="en-US" sz="2400" dirty="0"/>
              <a:t>Education institutions collect large amounts of student performance data.</a:t>
            </a:r>
            <a:br>
              <a:rPr lang="en-US" sz="2400" dirty="0"/>
            </a:br>
            <a:r>
              <a:rPr lang="en-US" sz="2400" dirty="0"/>
              <a:t>However, analyzing this data manually is difficult and time consuming.</a:t>
            </a:r>
          </a:p>
          <a:p>
            <a:r>
              <a:rPr lang="en-US" sz="2400" dirty="0"/>
              <a:t>A dashboard helps visualize student performance using charts and graphs, making it easier for teachers and administrators to understand patterns and trends.</a:t>
            </a:r>
          </a:p>
          <a:p>
            <a:r>
              <a:rPr lang="en-US" sz="2400" dirty="0"/>
              <a:t>This project focuses on creating a </a:t>
            </a:r>
            <a:r>
              <a:rPr lang="en-US" sz="2400" b="1" dirty="0"/>
              <a:t>Student Performance Analysis Dashboard</a:t>
            </a:r>
            <a:r>
              <a:rPr lang="en-US" sz="2400" dirty="0"/>
              <a:t> to analyze student scores effectively.</a:t>
            </a:r>
          </a:p>
        </p:txBody>
      </p:sp>
    </p:spTree>
    <p:extLst>
      <p:ext uri="{BB962C8B-B14F-4D97-AF65-F5344CB8AC3E}">
        <p14:creationId xmlns:p14="http://schemas.microsoft.com/office/powerpoint/2010/main" val="436101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dirty="0"/>
              <a:t>Problem Statement :</a:t>
            </a:r>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400" dirty="0"/>
              <a:t>Educational institutions store large volumes of student data.</a:t>
            </a:r>
          </a:p>
          <a:p>
            <a:r>
              <a:rPr lang="en-US" sz="2400" dirty="0"/>
              <a:t>Problems include:</a:t>
            </a:r>
          </a:p>
          <a:p>
            <a:r>
              <a:rPr lang="en-US" sz="2400" dirty="0"/>
              <a:t>• Difficult to analyze student performance manually</a:t>
            </a:r>
            <a:br>
              <a:rPr lang="en-US" sz="2400" dirty="0"/>
            </a:br>
            <a:r>
              <a:rPr lang="en-US" sz="2400" dirty="0"/>
              <a:t>• Hard to identify performance patterns</a:t>
            </a:r>
            <a:br>
              <a:rPr lang="en-US" sz="2400" dirty="0"/>
            </a:br>
            <a:r>
              <a:rPr lang="en-US" sz="2400" dirty="0"/>
              <a:t>• Teachers cannot easily compare scores</a:t>
            </a:r>
            <a:br>
              <a:rPr lang="en-US" sz="2400" dirty="0"/>
            </a:br>
            <a:r>
              <a:rPr lang="en-US" sz="2400" dirty="0"/>
              <a:t>• Lack of visual representation of data</a:t>
            </a:r>
          </a:p>
          <a:p>
            <a:r>
              <a:rPr lang="en-US" sz="2400" dirty="0"/>
              <a:t>A data visualization system is required to solve these problems.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dirty="0"/>
              <a:t>Proposed Solution :</a:t>
            </a:r>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r>
              <a:rPr lang="en-US" sz="1800" dirty="0"/>
              <a:t>The proposed solution is to develop a </a:t>
            </a:r>
            <a:r>
              <a:rPr lang="en-US" sz="1800" b="1" dirty="0"/>
              <a:t>Student Performance Analysis Dashboard</a:t>
            </a:r>
            <a:r>
              <a:rPr lang="en-US" sz="1800" dirty="0"/>
              <a:t> that helps educators analyze academic performance using data visualization techniques.</a:t>
            </a:r>
          </a:p>
          <a:p>
            <a:r>
              <a:rPr lang="en-US" sz="1800" dirty="0"/>
              <a:t>The dashboard provides a clear and interactive interface where users can easily understand student performance through graphical representations.</a:t>
            </a:r>
          </a:p>
          <a:p>
            <a:r>
              <a:rPr lang="en-US" sz="1800" dirty="0"/>
              <a:t>The system helps to:</a:t>
            </a:r>
          </a:p>
          <a:p>
            <a:r>
              <a:rPr lang="en-US" sz="1800" dirty="0"/>
              <a:t>• Visualize student scores using charts and graphs</a:t>
            </a:r>
            <a:br>
              <a:rPr lang="en-US" sz="1800" dirty="0"/>
            </a:br>
            <a:r>
              <a:rPr lang="en-US" sz="1800" dirty="0"/>
              <a:t>• Compare performance across different categories such as gender, ethnicity, and parental education</a:t>
            </a:r>
            <a:br>
              <a:rPr lang="en-US" sz="1800" dirty="0"/>
            </a:br>
            <a:r>
              <a:rPr lang="en-US" sz="1800" dirty="0"/>
              <a:t>• Identify trends and patterns in academic performance</a:t>
            </a:r>
            <a:br>
              <a:rPr lang="en-US" sz="1800" dirty="0"/>
            </a:br>
            <a:r>
              <a:rPr lang="en-US" sz="1800" dirty="0"/>
              <a:t>• Analyze subject-wise performance including math, reading, and writing</a:t>
            </a:r>
            <a:br>
              <a:rPr lang="en-US" sz="1800" dirty="0"/>
            </a:br>
            <a:r>
              <a:rPr lang="en-US" sz="1800" dirty="0"/>
              <a:t>• Monitor average scores and overall performance levels</a:t>
            </a:r>
            <a:br>
              <a:rPr lang="en-US" sz="1800" dirty="0"/>
            </a:br>
            <a:r>
              <a:rPr lang="en-US" sz="1800" dirty="0"/>
              <a:t>• Provide quick insights using interactive dashboard elements</a:t>
            </a:r>
          </a:p>
          <a:p>
            <a:r>
              <a:rPr lang="en-US" sz="1800" dirty="0"/>
              <a:t>The dashboard also includes filtering options that allow users to analyze specific data segments. This makes it easier for teachers and administrators to explore the data and identify areas where students need improvement.</a:t>
            </a:r>
          </a:p>
          <a:p>
            <a:r>
              <a:rPr lang="en-US" sz="1800" dirty="0"/>
              <a:t>By using data visualization techniques, the system transforms raw data into meaningful insights that support better academic planning and decision making.</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dirty="0"/>
              <a:t>Dataset Explanation :</a:t>
            </a:r>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r>
              <a:rPr lang="en-US" sz="2400" dirty="0"/>
              <a:t>The dataset contains student academic performance information.</a:t>
            </a:r>
          </a:p>
          <a:p>
            <a:r>
              <a:rPr lang="en-US" sz="2400" dirty="0"/>
              <a:t>Key attributes include:</a:t>
            </a:r>
          </a:p>
          <a:p>
            <a:r>
              <a:rPr lang="en-US" sz="2400" dirty="0"/>
              <a:t>• Student ID</a:t>
            </a:r>
            <a:br>
              <a:rPr lang="en-US" sz="2400" dirty="0"/>
            </a:br>
            <a:r>
              <a:rPr lang="en-US" sz="2400" dirty="0"/>
              <a:t>• Gender</a:t>
            </a:r>
            <a:br>
              <a:rPr lang="en-US" sz="2400" dirty="0"/>
            </a:br>
            <a:r>
              <a:rPr lang="en-US" sz="2400" dirty="0"/>
              <a:t>• Ethnicity</a:t>
            </a:r>
            <a:br>
              <a:rPr lang="en-US" sz="2400" dirty="0"/>
            </a:br>
            <a:r>
              <a:rPr lang="en-US" sz="2400" dirty="0"/>
              <a:t>• Parental Level of Education</a:t>
            </a:r>
            <a:br>
              <a:rPr lang="en-US" sz="2400" dirty="0"/>
            </a:br>
            <a:r>
              <a:rPr lang="en-US" sz="2400" dirty="0"/>
              <a:t>• Test Preparation Course</a:t>
            </a:r>
            <a:br>
              <a:rPr lang="en-US" sz="2400" dirty="0"/>
            </a:br>
            <a:r>
              <a:rPr lang="en-US" sz="2400" dirty="0"/>
              <a:t>• Math Score</a:t>
            </a:r>
            <a:br>
              <a:rPr lang="en-US" sz="2400" dirty="0"/>
            </a:br>
            <a:r>
              <a:rPr lang="en-US" sz="2400" dirty="0"/>
              <a:t>• Reading Score</a:t>
            </a:r>
            <a:br>
              <a:rPr lang="en-US" sz="2400" dirty="0"/>
            </a:br>
            <a:r>
              <a:rPr lang="en-US" sz="2400" dirty="0"/>
              <a:t>• Writing Score</a:t>
            </a:r>
          </a:p>
          <a:p>
            <a:r>
              <a:rPr lang="en-US" sz="2400" dirty="0"/>
              <a:t>This dataset is used to analyze and visualize student performance patterns.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dirty="0"/>
              <a:t>Technology Stack:</a:t>
            </a:r>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fontScale="92500" lnSpcReduction="10000"/>
          </a:bodyPr>
          <a:lstStyle/>
          <a:p>
            <a:r>
              <a:rPr lang="en-US" sz="2400" dirty="0"/>
              <a:t>The following technologies were used to develop the project:</a:t>
            </a:r>
          </a:p>
          <a:p>
            <a:r>
              <a:rPr lang="en-US" sz="2400" dirty="0"/>
              <a:t>Data Source</a:t>
            </a:r>
            <a:br>
              <a:rPr lang="en-US" sz="2400" dirty="0"/>
            </a:br>
            <a:r>
              <a:rPr lang="en-US" sz="2400" dirty="0"/>
              <a:t>Student Performance Dataset (Excel)</a:t>
            </a:r>
          </a:p>
          <a:p>
            <a:r>
              <a:rPr lang="en-US" sz="2400" dirty="0"/>
              <a:t>Data Processing</a:t>
            </a:r>
            <a:br>
              <a:rPr lang="en-US" sz="2400" dirty="0"/>
            </a:br>
            <a:r>
              <a:rPr lang="en-US" sz="2400" dirty="0"/>
              <a:t>Microsoft Excel</a:t>
            </a:r>
          </a:p>
          <a:p>
            <a:r>
              <a:rPr lang="en-US" sz="2400" dirty="0"/>
              <a:t>Visualization Tool</a:t>
            </a:r>
            <a:br>
              <a:rPr lang="en-US" sz="2400" dirty="0"/>
            </a:br>
            <a:r>
              <a:rPr lang="en-US" sz="2400" dirty="0"/>
              <a:t>Power BI</a:t>
            </a:r>
          </a:p>
          <a:p>
            <a:r>
              <a:rPr lang="en-US" sz="2400" dirty="0"/>
              <a:t>Charts Used</a:t>
            </a:r>
          </a:p>
          <a:p>
            <a:r>
              <a:rPr lang="en-US" sz="2400" dirty="0"/>
              <a:t>• Bar Chart</a:t>
            </a:r>
            <a:br>
              <a:rPr lang="en-US" sz="2400" dirty="0"/>
            </a:br>
            <a:r>
              <a:rPr lang="en-US" sz="2400" dirty="0"/>
              <a:t>• Pie Chart</a:t>
            </a:r>
            <a:br>
              <a:rPr lang="en-US" sz="2400" dirty="0"/>
            </a:br>
            <a:r>
              <a:rPr lang="en-US" sz="2400" dirty="0"/>
              <a:t>• Donut Chart</a:t>
            </a:r>
            <a:br>
              <a:rPr lang="en-US" sz="2400" dirty="0"/>
            </a:br>
            <a:r>
              <a:rPr lang="en-US" sz="2400" dirty="0"/>
              <a:t>• KPI Cards</a:t>
            </a:r>
            <a:br>
              <a:rPr lang="en-US" sz="2400" dirty="0"/>
            </a:br>
            <a:r>
              <a:rPr lang="en-US" sz="2400" dirty="0"/>
              <a:t>• Performance Comparison Charts</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dirty="0"/>
              <a:t>System Development Approach :</a:t>
            </a:r>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lnSpcReduction="10000"/>
          </a:bodyPr>
          <a:lstStyle/>
          <a:p>
            <a:r>
              <a:rPr lang="en-US" sz="2400" dirty="0"/>
              <a:t>The project follows the following steps:</a:t>
            </a:r>
          </a:p>
          <a:p>
            <a:r>
              <a:rPr lang="en-US" sz="2400" dirty="0"/>
              <a:t>Data Collection</a:t>
            </a:r>
            <a:br>
              <a:rPr lang="en-US" sz="2400" dirty="0"/>
            </a:br>
            <a:r>
              <a:rPr lang="en-US" sz="2400" dirty="0"/>
              <a:t>Student dataset collected from Excel.</a:t>
            </a:r>
          </a:p>
          <a:p>
            <a:r>
              <a:rPr lang="en-US" sz="2400" dirty="0"/>
              <a:t>Data Cleaning</a:t>
            </a:r>
            <a:br>
              <a:rPr lang="en-US" sz="2400" dirty="0"/>
            </a:br>
            <a:r>
              <a:rPr lang="en-US" sz="2400" dirty="0"/>
              <a:t>Unnecessary values removed and data formatted.</a:t>
            </a:r>
          </a:p>
          <a:p>
            <a:r>
              <a:rPr lang="en-US" sz="2400" dirty="0"/>
              <a:t>Data Analysis</a:t>
            </a:r>
            <a:br>
              <a:rPr lang="en-US" sz="2400" dirty="0"/>
            </a:br>
            <a:r>
              <a:rPr lang="en-US" sz="2400" dirty="0"/>
              <a:t>Scores analyzed based on gender, ethnicity and parental education.</a:t>
            </a:r>
          </a:p>
          <a:p>
            <a:r>
              <a:rPr lang="en-US" sz="2400" dirty="0"/>
              <a:t>Dashboard Creation</a:t>
            </a:r>
            <a:br>
              <a:rPr lang="en-US" sz="2400" dirty="0"/>
            </a:br>
            <a:r>
              <a:rPr lang="en-US" sz="2400" dirty="0"/>
              <a:t>Interactive charts created using Power BI.</a:t>
            </a:r>
          </a:p>
          <a:p>
            <a:r>
              <a:rPr lang="en-US" sz="2400" dirty="0"/>
              <a:t>Performance Visualization</a:t>
            </a:r>
            <a:br>
              <a:rPr lang="en-US" sz="2400" dirty="0"/>
            </a:br>
            <a:r>
              <a:rPr lang="en-US" sz="2400" dirty="0"/>
              <a:t>Dashboard shows student performance insights.</a:t>
            </a:r>
          </a:p>
          <a:p>
            <a:pPr marL="0" indent="0">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IN" sz="4000" dirty="0"/>
              <a:t>Dashboard :</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90" y="1622391"/>
            <a:ext cx="7587448" cy="4251960"/>
          </a:xfrm>
        </p:spPr>
        <p:txBody>
          <a:bodyPr vert="horz" lIns="91440" tIns="45720" rIns="91440" bIns="45720" rtlCol="0">
            <a:normAutofit/>
          </a:bodyPr>
          <a:lstStyle/>
          <a:p>
            <a:pPr marL="0" indent="0">
              <a:buNone/>
            </a:pPr>
            <a:endParaRPr lang="en-US" sz="2400" dirty="0"/>
          </a:p>
        </p:txBody>
      </p:sp>
      <p:pic>
        <p:nvPicPr>
          <p:cNvPr id="5" name="Picture 4" descr="The Student Performance Analysis Dashboard displays various statistics on student achievement, including average scores by ethnicity, gender, and education level, as well as test preparation and performance metrics.&#10;&#10;AI-generated content may be incorrect.">
            <a:extLst>
              <a:ext uri="{FF2B5EF4-FFF2-40B4-BE49-F238E27FC236}">
                <a16:creationId xmlns:a16="http://schemas.microsoft.com/office/drawing/2014/main" id="{F167798D-6327-2573-DD84-46887A879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590" y="1345479"/>
            <a:ext cx="7906626" cy="4628001"/>
          </a:xfrm>
          <a:prstGeom prst="rect">
            <a:avLst/>
          </a:prstGeom>
        </p:spPr>
      </p:pic>
      <p:sp>
        <p:nvSpPr>
          <p:cNvPr id="8" name="Title 3">
            <a:extLst>
              <a:ext uri="{FF2B5EF4-FFF2-40B4-BE49-F238E27FC236}">
                <a16:creationId xmlns:a16="http://schemas.microsoft.com/office/drawing/2014/main" id="{49CA61AA-FE29-6210-C443-14CDB2E1A7AC}"/>
              </a:ext>
            </a:extLst>
          </p:cNvPr>
          <p:cNvSpPr txBox="1">
            <a:spLocks/>
          </p:cNvSpPr>
          <p:nvPr/>
        </p:nvSpPr>
        <p:spPr>
          <a:xfrm rot="361504">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endParaRPr lang="en-US" sz="4800" b="1" dirty="0">
              <a:solidFill>
                <a:srgbClr val="002060"/>
              </a:solidFill>
              <a:latin typeface="Arial"/>
              <a:cs typeface="Arial"/>
            </a:endParaRPr>
          </a:p>
        </p:txBody>
      </p:sp>
      <p:sp>
        <p:nvSpPr>
          <p:cNvPr id="9" name="TextBox 8">
            <a:extLst>
              <a:ext uri="{FF2B5EF4-FFF2-40B4-BE49-F238E27FC236}">
                <a16:creationId xmlns:a16="http://schemas.microsoft.com/office/drawing/2014/main" id="{C999062E-11CA-1FDC-8193-B5EC7B09D935}"/>
              </a:ext>
            </a:extLst>
          </p:cNvPr>
          <p:cNvSpPr txBox="1"/>
          <p:nvPr/>
        </p:nvSpPr>
        <p:spPr>
          <a:xfrm>
            <a:off x="8169216" y="1345479"/>
            <a:ext cx="3509263" cy="3170099"/>
          </a:xfrm>
          <a:prstGeom prst="rect">
            <a:avLst/>
          </a:prstGeom>
          <a:noFill/>
        </p:spPr>
        <p:txBody>
          <a:bodyPr wrap="square" rtlCol="0">
            <a:spAutoFit/>
          </a:bodyPr>
          <a:lstStyle/>
          <a:p>
            <a:r>
              <a:rPr lang="en-US" sz="2800" dirty="0"/>
              <a:t>The dashboard includes:</a:t>
            </a:r>
          </a:p>
          <a:p>
            <a:pPr marL="457200" indent="-457200">
              <a:buFont typeface="Arial" panose="020B0604020202020204" pitchFamily="34" charset="0"/>
              <a:buChar char="•"/>
            </a:pPr>
            <a:r>
              <a:rPr lang="en-US" sz="2400" dirty="0"/>
              <a:t>Student count KPI</a:t>
            </a:r>
          </a:p>
          <a:p>
            <a:pPr marL="457200" indent="-457200">
              <a:buFont typeface="Arial" panose="020B0604020202020204" pitchFamily="34" charset="0"/>
              <a:buChar char="•"/>
            </a:pPr>
            <a:r>
              <a:rPr lang="en-US" sz="2400" dirty="0"/>
              <a:t>Average scores</a:t>
            </a:r>
          </a:p>
          <a:p>
            <a:pPr marL="457200" indent="-457200">
              <a:buFont typeface="Arial" panose="020B0604020202020204" pitchFamily="34" charset="0"/>
              <a:buChar char="•"/>
            </a:pPr>
            <a:r>
              <a:rPr lang="en-US" sz="2400" dirty="0"/>
              <a:t>Gender comparison</a:t>
            </a:r>
          </a:p>
          <a:p>
            <a:pPr marL="457200" indent="-457200">
              <a:buFont typeface="Arial" panose="020B0604020202020204" pitchFamily="34" charset="0"/>
              <a:buChar char="•"/>
            </a:pPr>
            <a:r>
              <a:rPr lang="en-US" sz="2400" dirty="0"/>
              <a:t>Ethnicity comparison</a:t>
            </a:r>
          </a:p>
          <a:p>
            <a:pPr marL="457200" indent="-457200">
              <a:buFont typeface="Arial" panose="020B0604020202020204" pitchFamily="34" charset="0"/>
              <a:buChar char="•"/>
            </a:pPr>
            <a:r>
              <a:rPr lang="en-US" sz="2400" dirty="0"/>
              <a:t>Test preparation impact</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dirty="0"/>
              <a:t>Results :</a:t>
            </a:r>
            <a:br>
              <a:rPr lang="en-US" sz="4000" b="1" dirty="0"/>
            </a:b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r>
              <a:rPr lang="en-US" sz="2400" dirty="0"/>
              <a:t>The dashboard successfully visualizes student performance data.</a:t>
            </a:r>
          </a:p>
          <a:p>
            <a:r>
              <a:rPr lang="en-US" sz="2400" dirty="0"/>
              <a:t>Key outcomes:</a:t>
            </a:r>
          </a:p>
          <a:p>
            <a:r>
              <a:rPr lang="en-US" sz="2400" dirty="0"/>
              <a:t>• Easy understanding of student score patterns</a:t>
            </a:r>
            <a:br>
              <a:rPr lang="en-US" sz="2400" dirty="0"/>
            </a:br>
            <a:r>
              <a:rPr lang="en-US" sz="2400" dirty="0"/>
              <a:t>• Identification of high performing students</a:t>
            </a:r>
            <a:br>
              <a:rPr lang="en-US" sz="2400" dirty="0"/>
            </a:br>
            <a:r>
              <a:rPr lang="en-US" sz="2400" dirty="0"/>
              <a:t>• Comparison of performance between categories</a:t>
            </a:r>
            <a:br>
              <a:rPr lang="en-US" sz="2400" dirty="0"/>
            </a:br>
            <a:r>
              <a:rPr lang="en-US" sz="2400" dirty="0"/>
              <a:t>• Interactive filtering improves analysis</a:t>
            </a:r>
          </a:p>
          <a:p>
            <a:r>
              <a:rPr lang="en-US" sz="2400" dirty="0"/>
              <a:t>This helps educators make better academic decisions.</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5A85CB-2C5D-F801-7B31-05EA2835C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659A7-5412-4439-9C9A-5885C0FFD685}"/>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dirty="0"/>
              <a:t>Conclusion :</a:t>
            </a:r>
            <a:br>
              <a:rPr lang="en-US" sz="4000" b="1" dirty="0"/>
            </a:br>
            <a:endParaRPr lang="en-US" sz="4000" dirty="0"/>
          </a:p>
        </p:txBody>
      </p:sp>
      <p:sp>
        <p:nvSpPr>
          <p:cNvPr id="3" name="Content Placeholder 2">
            <a:extLst>
              <a:ext uri="{FF2B5EF4-FFF2-40B4-BE49-F238E27FC236}">
                <a16:creationId xmlns:a16="http://schemas.microsoft.com/office/drawing/2014/main" id="{4C9E1631-8BC1-EBE9-0E73-6115A414CBA8}"/>
              </a:ext>
            </a:extLst>
          </p:cNvPr>
          <p:cNvSpPr>
            <a:spLocks noGrp="1"/>
          </p:cNvSpPr>
          <p:nvPr>
            <p:ph idx="1"/>
          </p:nvPr>
        </p:nvSpPr>
        <p:spPr>
          <a:xfrm>
            <a:off x="268071" y="1304434"/>
            <a:ext cx="10515600" cy="4251960"/>
          </a:xfrm>
        </p:spPr>
        <p:txBody>
          <a:bodyPr vert="horz" lIns="91440" tIns="45720" rIns="91440" bIns="45720" rtlCol="0">
            <a:normAutofit/>
          </a:bodyPr>
          <a:lstStyle/>
          <a:p>
            <a:r>
              <a:rPr lang="en-US" sz="2400" dirty="0"/>
              <a:t>The Student Performance Analysis Dashboard provides an effective way to analyze student data.</a:t>
            </a:r>
          </a:p>
          <a:p>
            <a:r>
              <a:rPr lang="en-US" sz="2400" dirty="0"/>
              <a:t>The system helps educators identify trends and evaluate academic performance quickly.</a:t>
            </a:r>
          </a:p>
          <a:p>
            <a:r>
              <a:rPr lang="en-US" sz="2400" dirty="0"/>
              <a:t>Using data visualization tools like Power BI improves decision making and enhances educational insights.</a:t>
            </a:r>
          </a:p>
        </p:txBody>
      </p:sp>
    </p:spTree>
    <p:extLst>
      <p:ext uri="{BB962C8B-B14F-4D97-AF65-F5344CB8AC3E}">
        <p14:creationId xmlns:p14="http://schemas.microsoft.com/office/powerpoint/2010/main" val="146036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CC5FC-C31E-0D85-3764-EF5A46524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B1863-2C6F-C364-9614-69B2AA031C63}"/>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dirty="0"/>
              <a:t>Future Scope :</a:t>
            </a:r>
          </a:p>
        </p:txBody>
      </p:sp>
      <p:sp>
        <p:nvSpPr>
          <p:cNvPr id="3" name="Content Placeholder 2">
            <a:extLst>
              <a:ext uri="{FF2B5EF4-FFF2-40B4-BE49-F238E27FC236}">
                <a16:creationId xmlns:a16="http://schemas.microsoft.com/office/drawing/2014/main" id="{32D89A9A-E902-1195-C80B-68FE5DC329CC}"/>
              </a:ext>
            </a:extLst>
          </p:cNvPr>
          <p:cNvSpPr>
            <a:spLocks noGrp="1"/>
          </p:cNvSpPr>
          <p:nvPr>
            <p:ph idx="1"/>
          </p:nvPr>
        </p:nvSpPr>
        <p:spPr>
          <a:xfrm>
            <a:off x="268071" y="1304434"/>
            <a:ext cx="10515600" cy="4251960"/>
          </a:xfrm>
        </p:spPr>
        <p:txBody>
          <a:bodyPr vert="horz" lIns="91440" tIns="45720" rIns="91440" bIns="45720" rtlCol="0">
            <a:normAutofit/>
          </a:bodyPr>
          <a:lstStyle/>
          <a:p>
            <a:r>
              <a:rPr lang="en-US" sz="2400" dirty="0"/>
              <a:t>Future improvements may include:</a:t>
            </a:r>
          </a:p>
          <a:p>
            <a:r>
              <a:rPr lang="en-US" sz="2400" dirty="0"/>
              <a:t>• Real-time student data integration</a:t>
            </a:r>
            <a:br>
              <a:rPr lang="en-US" sz="2400" dirty="0"/>
            </a:br>
            <a:r>
              <a:rPr lang="en-US" sz="2400" dirty="0"/>
              <a:t>• AI-based performance prediction</a:t>
            </a:r>
            <a:br>
              <a:rPr lang="en-US" sz="2400" dirty="0"/>
            </a:br>
            <a:r>
              <a:rPr lang="en-US" sz="2400" dirty="0"/>
              <a:t>• Web-based dashboard deployment</a:t>
            </a:r>
            <a:br>
              <a:rPr lang="en-US" sz="2400" dirty="0"/>
            </a:br>
            <a:r>
              <a:rPr lang="en-US" sz="2400" dirty="0"/>
              <a:t>• Integration with school management systems</a:t>
            </a:r>
          </a:p>
        </p:txBody>
      </p:sp>
    </p:spTree>
    <p:extLst>
      <p:ext uri="{BB962C8B-B14F-4D97-AF65-F5344CB8AC3E}">
        <p14:creationId xmlns:p14="http://schemas.microsoft.com/office/powerpoint/2010/main" val="1388479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IN" sz="4000" b="1" dirty="0"/>
              <a:t>References :</a:t>
            </a:r>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400" dirty="0"/>
              <a:t>• Microsoft Power BI Documentation</a:t>
            </a:r>
            <a:br>
              <a:rPr lang="en-IN" sz="2400" dirty="0"/>
            </a:br>
            <a:r>
              <a:rPr lang="en-IN" sz="2400" dirty="0"/>
              <a:t>• Student Performance Dataset</a:t>
            </a:r>
            <a:br>
              <a:rPr lang="en-IN" sz="2400" dirty="0"/>
            </a:br>
            <a:r>
              <a:rPr lang="en-IN" sz="2400" dirty="0"/>
              <a:t>• Data Visualization Techniques</a:t>
            </a:r>
          </a:p>
          <a:p>
            <a:pPr marL="0" indent="0">
              <a:buNone/>
            </a:pPr>
            <a:endParaRPr lang="en-IN" sz="2400" dirty="0"/>
          </a:p>
          <a:p>
            <a:pPr marL="0" indent="0">
              <a:buNone/>
            </a:pPr>
            <a:r>
              <a:rPr lang="en-IN" sz="2400" dirty="0"/>
              <a:t>GITHUB LINK :</a:t>
            </a: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dirty="0">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664</Words>
  <Application>Microsoft Office PowerPoint</Application>
  <PresentationFormat>Widescreen</PresentationFormat>
  <Paragraphs>68</Paragraphs>
  <Slides>13</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Aptos</vt:lpstr>
      <vt:lpstr>Arial</vt:lpstr>
      <vt:lpstr>Calibri</vt:lpstr>
      <vt:lpstr>1_Office Theme</vt:lpstr>
      <vt:lpstr>Custom Design</vt:lpstr>
      <vt:lpstr>PowerPoint Presentation</vt:lpstr>
      <vt:lpstr>Introduction :</vt:lpstr>
      <vt:lpstr>Problem Statement :</vt:lpstr>
      <vt:lpstr>Proposed Solution :</vt:lpstr>
      <vt:lpstr>Dataset Explanation :</vt:lpstr>
      <vt:lpstr>Technology Stack:</vt:lpstr>
      <vt:lpstr>System Development Approach :</vt:lpstr>
      <vt:lpstr>Dashboard :</vt:lpstr>
      <vt:lpstr>Results : </vt:lpstr>
      <vt:lpstr>Conclusion : </vt:lpstr>
      <vt:lpstr>Future Scope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Nellore Sukumar</cp:lastModifiedBy>
  <cp:revision>109</cp:revision>
  <dcterms:created xsi:type="dcterms:W3CDTF">2024-05-21T11:55:07Z</dcterms:created>
  <dcterms:modified xsi:type="dcterms:W3CDTF">2026-03-14T06:49:10Z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